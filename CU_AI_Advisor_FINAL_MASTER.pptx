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21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731520"/>
            <a:ext cx="8412480" cy="5394960"/>
          </a:xfrm>
          <a:prstGeom prst="rect">
            <a:avLst/>
          </a:prstGeom>
          <a:solidFill>
            <a:srgbClr val="FFFFFF"/>
          </a:solidFill>
          <a:ln w="508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02147"/>
                </a:solidFill>
                <a:latin typeface="Times New Roman"/>
              </a:defRPr>
            </a:pPr>
            <a:r>
              <a:t>CU AI ADVISOR</a:t>
            </a:r>
          </a:p>
          <a:p>
            <a:pPr algn="ctr">
              <a:defRPr sz="2800" b="1">
                <a:solidFill>
                  <a:srgbClr val="C8102E"/>
                </a:solidFill>
                <a:latin typeface="Times New Roman"/>
              </a:defRPr>
            </a:pPr>
            <a:r>
              <a:t>Unified Production Cloud-AI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latin typeface="Times New Roman"/>
              </a:defRPr>
            </a:pPr>
            <a:r>
              <a:t>Submitted by: Manik (O24MCA110817)</a:t>
            </a:r>
            <a:br/>
            <a:r>
              <a:t>Under the guidance of: Mr. Kashish Gupta</a:t>
            </a:r>
            <a:br/>
            <a:r>
              <a:t>Department of Computer Applications, Chandigarh University</a:t>
            </a:r>
            <a:br/>
            <a:r>
              <a:t>Email: contact.manik.bhola@gmail.com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Times New Roman"/>
              </a:defRPr>
            </a:pPr>
            <a:r>
              <a:t>Manik | O24MCA110817 | MCA Final Project Defense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Times New Roman"/>
              </a:rPr>
              <a:t>Abstract /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Unified Production Architecture model.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Eliminated SQLite fallback for data integrity.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Direct integration with Production PostgreSQL.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Zero backend compute costs per user.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High-availability, cloud-native foundation.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Times New Roman"/>
              </a:defRPr>
            </a:pPr>
            <a:r>
              <a:t>Manik | O24MCA110817 | MCA Final Project Defense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Times New Roman"/>
              </a:rPr>
              <a:t>Introduction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Massive institutional growth needs automation.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Traditional physical advising is unscalable.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Automate lookup for attendance/grading.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Map student interests to career paths.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Unified cloud data for real-time analytics.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Times New Roman"/>
              </a:defRPr>
            </a:pPr>
            <a:r>
              <a:t>Manik | O24MCA110817 | MCA Final Project Defense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Times New Roman"/>
              </a:rPr>
              <a:t>Literature Review &amp; Gap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Existing systems rely on costly cloud GPUs.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Centralized AI compromises student privacy.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Lack of institution-specific local logic.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Trend: Shift to 'Edge AI' and WASM.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Project utilizes Client-Side Orchestration.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Times New Roman"/>
              </a:defRPr>
            </a:pPr>
            <a:r>
              <a:t>Manik | O24MCA110817 | MCA Final Project Defense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Times New Roman"/>
              </a:rPr>
              <a:t>System Architecture: Unified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Times New Roman"/>
              </a:defRPr>
            </a:pPr>
            <a:r>
              <a:t>Manik | O24MCA110817 | MCA Final Project Defense | 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Tier 1: Streamlit UI &amp; Browser SDK.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Tier 2: Python Hybrid Logic Engine.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Tier 3: Unified Production PostgreSQL.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Innovation: Keyless AI Orchestration.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371600"/>
            <a:ext cx="2926080" cy="1097280"/>
          </a:xfrm>
          <a:prstGeom prst="roundRect">
            <a:avLst/>
          </a:prstGeom>
          <a:solidFill>
            <a:srgbClr val="002147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latin typeface="Times New Roman"/>
              </a:defRPr>
            </a:pPr>
            <a:r>
              <a:t>Presentation Layer</a:t>
            </a:r>
          </a:p>
          <a:p>
            <a:r>
              <a:t>(Streamlit / Puter.js)</a:t>
            </a:r>
          </a:p>
        </p:txBody>
      </p:sp>
      <p:sp>
        <p:nvSpPr>
          <p:cNvPr id="7" name="Down Arrow 6"/>
          <p:cNvSpPr/>
          <p:nvPr/>
        </p:nvSpPr>
        <p:spPr>
          <a:xfrm>
            <a:off x="6766560" y="2468880"/>
            <a:ext cx="365760" cy="365760"/>
          </a:xfrm>
          <a:prstGeom prst="downArrow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0" y="2834640"/>
            <a:ext cx="2926080" cy="1097280"/>
          </a:xfrm>
          <a:prstGeom prst="roundRect">
            <a:avLst/>
          </a:prstGeom>
          <a:solidFill>
            <a:srgbClr val="002147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latin typeface="Times New Roman"/>
              </a:defRPr>
            </a:pPr>
            <a:r>
              <a:t>Logic Layer</a:t>
            </a:r>
          </a:p>
          <a:p>
            <a:r>
              <a:t>(Python Orchestrator)</a:t>
            </a:r>
          </a:p>
        </p:txBody>
      </p:sp>
      <p:sp>
        <p:nvSpPr>
          <p:cNvPr id="9" name="Down Arrow 8"/>
          <p:cNvSpPr/>
          <p:nvPr/>
        </p:nvSpPr>
        <p:spPr>
          <a:xfrm>
            <a:off x="6766560" y="3931920"/>
            <a:ext cx="365760" cy="365760"/>
          </a:xfrm>
          <a:prstGeom prst="downArrow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0" y="4297680"/>
            <a:ext cx="2926080" cy="1097280"/>
          </a:xfrm>
          <a:prstGeom prst="roundRect">
            <a:avLst/>
          </a:prstGeom>
          <a:solidFill>
            <a:srgbClr val="002147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latin typeface="Times New Roman"/>
              </a:defRPr>
            </a:pPr>
            <a:r>
              <a:t>Data Layer</a:t>
            </a:r>
          </a:p>
          <a:p>
            <a:r>
              <a:t>(Production PostgreSQL)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Times New Roman"/>
              </a:rPr>
              <a:t>Data Analysis: Unified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Times New Roman"/>
              </a:defRPr>
            </a:pPr>
            <a:r>
              <a:t>Manik | O24MCA110817 | MCA Final Project Defense | 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Unified PostgreSQL data persistence.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Real-time sentiment polarity tracking.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Sub-200ms query response latency.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High correlation in interest matching.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1828800"/>
            <a:ext cx="1066799" cy="731520"/>
          </a:xfrm>
          <a:prstGeom prst="rect">
            <a:avLst/>
          </a:prstGeom>
          <a:solidFill>
            <a:srgbClr val="0021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15544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Times New Roman"/>
              </a:defRPr>
            </a:pPr>
            <a:r>
              <a:t>Neutral (0.0)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2926080"/>
            <a:ext cx="2667000" cy="731520"/>
          </a:xfrm>
          <a:prstGeom prst="rect">
            <a:avLst/>
          </a:prstGeom>
          <a:solidFill>
            <a:srgbClr val="0021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26517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Times New Roman"/>
              </a:defRPr>
            </a:pPr>
            <a:r>
              <a:t>Positive (&gt;0)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4023360"/>
            <a:ext cx="1386840" cy="731520"/>
          </a:xfrm>
          <a:prstGeom prst="rect">
            <a:avLst/>
          </a:prstGeom>
          <a:solidFill>
            <a:srgbClr val="C810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374903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Times New Roman"/>
              </a:defRPr>
            </a:pPr>
            <a:r>
              <a:t>Negative (&lt;0)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Times New Roman"/>
              </a:rPr>
              <a:t>Findings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95% functional accuracy in Cloud DB tests.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150+ programs accurately mapped.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Eliminated database fragmentation issues.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Verified Mon-Fri booking validation.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Unified logs for centralized monitoring.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Times New Roman"/>
              </a:defRPr>
            </a:pPr>
            <a:r>
              <a:t>Manik | O24MCA110817 | MCA Final Project Defense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Times New Roman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Unified Cloud DB is the sustainable path.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Absolute data sovereignty achieved.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Production-ready ecosystem delivered.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Optimized for institutional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Times New Roman"/>
              </a:defRPr>
            </a:pPr>
            <a:r>
              <a:t>Manik | O24MCA110817 | MCA Final Project Defense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Times New Roman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Direct CU-IMS API integration.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Hindi/Punjabi multi-lingual support.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Predictive dropout risk analytics.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Native PWA for mobile notifications.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Times New Roman"/>
              </a:defRPr>
            </a:pPr>
            <a:r>
              <a:t>Manik | O24MCA110817 | MCA Final Project Defense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Times New Roman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Requires active internet connection.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Depends on browser WASM support.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Requires Cloud Database Availability.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Time-limited multi-lingual depth.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Times New Roman"/>
              </a:defRPr>
            </a:pPr>
            <a:r>
              <a:t>Manik | O24MCA110817 | MCA Final Project Defense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21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Times New Roman"/>
              </a:defRPr>
            </a:pPr>
            <a:r>
              <a:t>THANK YOU</a:t>
            </a:r>
          </a:p>
          <a:p>
            <a:pPr algn="ctr">
              <a:defRPr sz="2200">
                <a:solidFill>
                  <a:srgbClr val="B8860B"/>
                </a:solidFill>
                <a:latin typeface="Times New Roman"/>
              </a:defRPr>
            </a:pPr>
            <a:r>
              <a:t>Questions Welcome</a:t>
            </a:r>
            <a:br/>
            <a:r>
              <a:t>Manik | contact.manik.bhola@gmail.com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Times New Roman"/>
              </a:defRPr>
            </a:pPr>
            <a:r>
              <a:t>Manik | O24MCA110817 | MCA Final Project Defense | 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